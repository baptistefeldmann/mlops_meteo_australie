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Présentation technique du projet MLOps de prédiction météo. Montrer les technos et justifier les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modèle n'est qu'une brique ; la valeur vient de l'automatisation, la reproductibilité et le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étape dans son conteneur : isolation des dépendances, séparation des responsabilités, remplaçabilité. DagsHub = plateforme externe centralisant données (DVC) et modèles (MLflow).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Données publiques du BOM australien, un CSV par station et par mois, récupéré par HTTP. Nettoyage puis transformation vers datasets Parquet.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Colonnes brutes = météo du jour. Cible RainTomorrow = RainToday décalé d'un jour. Déséquilibre traité au training, mesuré via PR-AUC.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Saisonnalité (dayofyear), position (lat/long), encodage cyclique sin/cos du vent, lags J-1/J-3 pour la dynamique récente.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XGBoost pour les données tabulaires. Déséquilibre : scale_pos_weight + early stopping. Sélection sur PR-AUC. Split chronologique par 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dvc.yaml = 3 étapes. dvc repro (cache), dvc push (DagsHub S3), Git ne garde que dvc.lock. Reproductibilité complète.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MLflow : tracking + registry ; challenger comparé au best_model (PR-AUC). DagsHub réunit Git + DVC + MLflow : aucune infra, un token, gratuit.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Haut : entraînement mensuel. Bas : inférence à la demande. Le Model Registry DagsHub relie les deux (best_model).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: orchestration (Airflow), monitoring (Evidently + Prometheus/Grafana + Slack) et serving (Nginx + Streamlit).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Airflow automatise le cycle. 2 DAGs (data_pipeline @monthly qui déclenche model_training) : on peut relancer l'un sans l'autre (juste collecter, ou juste réentraîner après un ajustement). Le pipeline versionne tout sur Git automatiquement. drift_report et update_reference sont prévus.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Evidently compare la référence (snapshot du modèle déployé) au dataset courant. Data drift = test statistique par feature, agrégé en part de colonnes driftées + flag dataset. Target drift = dérive de la cible. Sorties : rapport HTML + métriques dans MLflow pour le suivi mensuel.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L'API FastAPI expose /metrics (requêtes, statuts, latence + confidence des prédictions). Prometheus scrape, Grafana affiche le dashboard (statut, volumes, taux d'échec, confidence, latence). Deux alertes (API DOWN, taux d'échec) notifient sur Slack via un contact point provisionné.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Serving = la couche d'exposition. Nginx : reverse proxy qui protège l'API par clé API et masque le service ; prêt pour TLS/rate-limiting. Streamlit : interface (carte + prédiction) avec page de connexion (mots de passe hachés) et 2 rôles — user (inférence) et admin (+ Grafana et rapports de drift).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 : le projet forme une boucle MLOps complète — données, entraînement, registre, serving, monitoring — que le drift et Airflow referment via le réentraînement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1554480"/>
            <a:ext cx="5120640" cy="5120640"/>
          </a:xfrm>
          <a:prstGeom prst="ellipse">
            <a:avLst/>
          </a:prstGeom>
          <a:solidFill>
            <a:srgbClr val="12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3383280"/>
            <a:ext cx="3931920" cy="3931920"/>
          </a:xfrm>
          <a:prstGeom prst="ellipse">
            <a:avLst/>
          </a:prstGeom>
          <a:solidFill>
            <a:srgbClr val="10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1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8A33D"/>
                </a:solidFill>
                <a:latin typeface="Calibri"/>
              </a:rPr>
              <a:t>PRÉSENTATION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8869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MLOps — Prédiction météo</a:t>
            </a:r>
          </a:p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en Australie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7D6E2"/>
                </a:solidFill>
                <a:latin typeface="Calibri"/>
              </a:rPr>
              <a:t>« Pleuvra-t-il demain ? » — un système ML complet : de la donnée brute au service, industrialisé et reproductible.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029200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63C5C"/>
          </a:solidFill>
          <a:ln w="12700">
            <a:solidFill>
              <a:srgbClr val="2C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CFE0EC"/>
                </a:solidFill>
                <a:latin typeface="Calibri"/>
              </a:rPr>
              <a:t>XGBoost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06524" y="5029200"/>
            <a:ext cx="635508" cy="384048"/>
          </a:xfrm>
          <a:prstGeom prst="roundRect">
            <a:avLst>
              <a:gd name="adj" fmla="val 50000"/>
            </a:avLst>
          </a:prstGeom>
          <a:solidFill>
            <a:srgbClr val="163C5C"/>
          </a:solidFill>
          <a:ln w="12700">
            <a:solidFill>
              <a:srgbClr val="2C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CFE0EC"/>
                </a:solidFill>
                <a:latin typeface="Calibri"/>
              </a:rPr>
              <a:t>DVC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06624" y="5029200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63C5C"/>
          </a:solidFill>
          <a:ln w="12700">
            <a:solidFill>
              <a:srgbClr val="2C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CFE0EC"/>
                </a:solidFill>
                <a:latin typeface="Calibri"/>
              </a:rPr>
              <a:t>DagsHub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27348" y="5029200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163C5C"/>
          </a:solidFill>
          <a:ln w="12700">
            <a:solidFill>
              <a:srgbClr val="2C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CFE0EC"/>
                </a:solidFill>
                <a:latin typeface="Calibri"/>
              </a:rPr>
              <a:t>MLflow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2916" y="5029200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163C5C"/>
          </a:solidFill>
          <a:ln w="12700">
            <a:solidFill>
              <a:srgbClr val="2C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CFE0EC"/>
                </a:solidFill>
                <a:latin typeface="Calibri"/>
              </a:rPr>
              <a:t>Docker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8483" y="5029200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63C5C"/>
          </a:solidFill>
          <a:ln w="12700">
            <a:solidFill>
              <a:srgbClr val="2C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CFE0EC"/>
                </a:solidFill>
                <a:latin typeface="Calibri"/>
              </a:rPr>
              <a:t>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8C9E"/>
                </a:solidFill>
                <a:latin typeface="Calibri"/>
              </a:rPr>
              <a:t>01 · 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6283A"/>
                </a:solidFill>
                <a:latin typeface="Cambria"/>
              </a:rPr>
              <a:t>Un projet MLOps, pas seulement un modèle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6283A"/>
                </a:solidFill>
                <a:latin typeface="Calibri"/>
              </a:rPr>
              <a:t>Objectif métier. </a:t>
            </a:r>
            <a:r>
              <a:rPr sz="1550" b="0" i="0">
                <a:solidFill>
                  <a:srgbClr val="5E7284"/>
                </a:solidFill>
                <a:latin typeface="Calibri"/>
              </a:rPr>
              <a:t>Prédire s'il </a:t>
            </a:r>
            <a:r>
              <a:rPr sz="1550" b="1" i="0">
                <a:solidFill>
                  <a:srgbClr val="1C6E8C"/>
                </a:solidFill>
                <a:latin typeface="Calibri"/>
              </a:rPr>
              <a:t>pleuvra demain</a:t>
            </a:r>
            <a:r>
              <a:rPr sz="1550" b="0" i="0">
                <a:solidFill>
                  <a:srgbClr val="5E7284"/>
                </a:solidFill>
                <a:latin typeface="Calibri"/>
              </a:rPr>
              <a:t> (RainTomorrow) pour chaque station → une classification binaire.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6035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6283A"/>
                </a:solidFill>
                <a:latin typeface="Calibri"/>
              </a:rPr>
              <a:t>Enjeu MLOps. </a:t>
            </a:r>
            <a:r>
              <a:rPr sz="1550" b="0" i="0">
                <a:solidFill>
                  <a:srgbClr val="5E7284"/>
                </a:solidFill>
                <a:latin typeface="Calibri"/>
              </a:rPr>
              <a:t>Au-delà de l'entraînement, </a:t>
            </a:r>
            <a:r>
              <a:rPr sz="1550" b="1" i="0">
                <a:solidFill>
                  <a:srgbClr val="16283A"/>
                </a:solidFill>
                <a:latin typeface="Calibri"/>
              </a:rPr>
              <a:t>industrialiser tout le cycle de vie</a:t>
            </a:r>
            <a:r>
              <a:rPr sz="1550" b="0" i="0">
                <a:solidFill>
                  <a:srgbClr val="5E7284"/>
                </a:solidFill>
                <a:latin typeface="Calibri"/>
              </a:rPr>
              <a:t> : collecte → entraînement → déploiement → monitoring, de façon automatisée, reproductible et versionnée.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4370832"/>
            <a:ext cx="201168" cy="201168"/>
          </a:xfrm>
          <a:prstGeom prst="ellipse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4297680"/>
            <a:ext cx="5852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83A"/>
                </a:solidFill>
                <a:latin typeface="Calibri"/>
              </a:rPr>
              <a:t>Reproductible.  </a:t>
            </a:r>
            <a:r>
              <a:rPr sz="1400" b="0" i="0">
                <a:solidFill>
                  <a:srgbClr val="5E7284"/>
                </a:solidFill>
                <a:latin typeface="Calibri"/>
              </a:rPr>
              <a:t>Données &amp; pipeline versionnés (DVC)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4873752"/>
            <a:ext cx="201168" cy="20116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800600"/>
            <a:ext cx="5852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83A"/>
                </a:solidFill>
                <a:latin typeface="Calibri"/>
              </a:rPr>
              <a:t>Automatisé.  </a:t>
            </a:r>
            <a:r>
              <a:rPr sz="1400" b="0" i="0">
                <a:solidFill>
                  <a:srgbClr val="5E7284"/>
                </a:solidFill>
                <a:latin typeface="Calibri"/>
              </a:rPr>
              <a:t>Réentraînement mensuel (Airflow)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5376672"/>
            <a:ext cx="201168" cy="201168"/>
          </a:xfrm>
          <a:prstGeom prst="ellipse">
            <a:avLst/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303520"/>
            <a:ext cx="5852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83A"/>
                </a:solidFill>
                <a:latin typeface="Calibri"/>
              </a:rPr>
              <a:t>Observable.  </a:t>
            </a:r>
            <a:r>
              <a:rPr sz="1400" b="0" i="0">
                <a:solidFill>
                  <a:srgbClr val="5E7284"/>
                </a:solidFill>
                <a:latin typeface="Calibri"/>
              </a:rPr>
              <a:t>Métriques &amp; drift (Grafana / Evidently)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783080"/>
            <a:ext cx="2286000" cy="1874519"/>
          </a:xfrm>
          <a:prstGeom prst="roundRect">
            <a:avLst>
              <a:gd name="adj" fmla="val 8000"/>
            </a:avLst>
          </a:prstGeom>
          <a:solidFill>
            <a:srgbClr val="0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167128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mbria"/>
              </a:rPr>
              <a:t>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2926080"/>
            <a:ext cx="1956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C7D6E2"/>
                </a:solidFill>
                <a:latin typeface="Calibri"/>
              </a:rPr>
              <a:t>stations météo (Australie)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1783080"/>
            <a:ext cx="2286000" cy="1874519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2167128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1C6E8C"/>
                </a:solidFill>
                <a:latin typeface="Cambria"/>
              </a:rPr>
              <a:t>1 / jour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82912" y="2926080"/>
            <a:ext cx="1956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5E7284"/>
                </a:solidFill>
                <a:latin typeface="Calibri"/>
              </a:rPr>
              <a:t>horizon de prédiction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886200"/>
            <a:ext cx="2286000" cy="1874519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4270248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1C6E8C"/>
                </a:solidFill>
                <a:latin typeface="Cambria"/>
              </a:rPr>
              <a:t>Binaire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5029200"/>
            <a:ext cx="1956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5E7284"/>
                </a:solidFill>
                <a:latin typeface="Calibri"/>
              </a:rPr>
              <a:t>pluie / pas de pluie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3886200"/>
            <a:ext cx="2286000" cy="1874519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4270248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1C6E8C"/>
                </a:solidFill>
                <a:latin typeface="Cambria"/>
              </a:rPr>
              <a:t>Mensuel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12" y="5029200"/>
            <a:ext cx="1956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5E7284"/>
                </a:solidFill>
                <a:latin typeface="Calibri"/>
              </a:rPr>
              <a:t>cycle de réentraînement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8C9E"/>
                </a:solidFill>
                <a:latin typeface="Calibri"/>
              </a:rPr>
              <a:t>02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6283A"/>
                </a:solidFill>
                <a:latin typeface="Cambria"/>
              </a:rPr>
              <a:t>Une architecture micro-services conteneurisée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A"/>
                </a:solidFill>
                <a:latin typeface="Calibri"/>
              </a:rPr>
              <a:t>Chaque brique = 1 conteneur Docker isolé</a:t>
            </a:r>
            <a:r>
              <a:rPr sz="1450" b="0" i="0">
                <a:solidFill>
                  <a:srgbClr val="5E7284"/>
                </a:solidFill>
                <a:latin typeface="Calibri"/>
              </a:rPr>
              <a:t>, orchestrés par un seul </a:t>
            </a:r>
            <a:r>
              <a:rPr sz="1450" b="1" i="0">
                <a:solidFill>
                  <a:srgbClr val="1C6E8C"/>
                </a:solidFill>
                <a:latin typeface="Calibri"/>
              </a:rPr>
              <a:t>docker-compose</a:t>
            </a:r>
            <a:r>
              <a:rPr sz="1450" b="0" i="0">
                <a:solidFill>
                  <a:srgbClr val="5E7284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246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185415"/>
            <a:ext cx="182880" cy="182880"/>
          </a:xfrm>
          <a:prstGeom prst="ellipse">
            <a:avLst/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093976"/>
            <a:ext cx="26060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A"/>
                </a:solidFill>
                <a:latin typeface="Calibri"/>
              </a:rPr>
              <a:t>Données &amp;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532888"/>
            <a:ext cx="2606039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7284"/>
                </a:solidFill>
                <a:latin typeface="Calibri"/>
              </a:rPr>
              <a:t>collect_raw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7284"/>
                </a:solidFill>
                <a:latin typeface="Calibri"/>
              </a:rPr>
              <a:t>create_features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7284"/>
                </a:solidFill>
                <a:latin typeface="Calibri"/>
              </a:rPr>
              <a:t>create_datasets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7284"/>
                </a:solidFill>
                <a:latin typeface="Calibri"/>
              </a:rPr>
              <a:t>training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7284"/>
                </a:solidFill>
                <a:latin typeface="Calibri"/>
              </a:rPr>
              <a:t>drift_report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95928" y="1965960"/>
            <a:ext cx="3246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97096" y="2185415"/>
            <a:ext cx="182880" cy="182880"/>
          </a:xfrm>
          <a:prstGeom prst="ellipse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2093976"/>
            <a:ext cx="26060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A"/>
                </a:solidFill>
                <a:latin typeface="Calibri"/>
              </a:rPr>
              <a:t>Serving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532888"/>
            <a:ext cx="2606039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7284"/>
                </a:solidFill>
                <a:latin typeface="Calibri"/>
              </a:rPr>
              <a:t>api — FastAPI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7284"/>
                </a:solidFill>
                <a:latin typeface="Calibri"/>
              </a:rPr>
              <a:t>nginx — reverse proxy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7284"/>
                </a:solidFill>
                <a:latin typeface="Calibri"/>
              </a:rPr>
              <a:t>interface — Streamlit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33087"/>
            <a:ext cx="3246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182880" cy="182880"/>
          </a:xfrm>
          <a:prstGeom prst="ellipse">
            <a:avLst/>
          </a:prstGeom>
          <a:solidFill>
            <a:srgbClr val="C98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261103"/>
            <a:ext cx="26060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A"/>
                </a:solidFill>
                <a:latin typeface="Calibri"/>
              </a:rPr>
              <a:t>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700016"/>
            <a:ext cx="2606039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7284"/>
                </a:solidFill>
                <a:latin typeface="Calibri"/>
              </a:rPr>
              <a:t>airflow-webserver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7284"/>
                </a:solidFill>
                <a:latin typeface="Calibri"/>
              </a:rPr>
              <a:t>airflow-scheduler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7284"/>
                </a:solidFill>
                <a:latin typeface="Calibri"/>
              </a:rPr>
              <a:t>postgres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95928" y="4133087"/>
            <a:ext cx="3246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7096" y="4352544"/>
            <a:ext cx="182880" cy="182880"/>
          </a:xfrm>
          <a:prstGeom prst="ellipse">
            <a:avLst/>
          </a:prstGeom>
          <a:solidFill>
            <a:srgbClr val="0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1416" y="4261103"/>
            <a:ext cx="26060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A"/>
                </a:solidFill>
                <a:latin typeface="Calibri"/>
              </a:rPr>
              <a:t>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4700016"/>
            <a:ext cx="2606039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7284"/>
                </a:solidFill>
                <a:latin typeface="Calibri"/>
              </a:rPr>
              <a:t>prometheus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7284"/>
                </a:solidFill>
                <a:latin typeface="Calibri"/>
              </a:rPr>
              <a:t>grafana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965960"/>
            <a:ext cx="4206240" cy="4133087"/>
          </a:xfrm>
          <a:prstGeom prst="roundRect">
            <a:avLst>
              <a:gd name="adj" fmla="val 5000"/>
            </a:avLst>
          </a:prstGeom>
          <a:solidFill>
            <a:srgbClr val="0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2194560"/>
            <a:ext cx="36575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A33D"/>
                </a:solidFill>
                <a:latin typeface="Calibri"/>
              </a:rPr>
              <a:t>PLATEFORME EXTERNE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2468880"/>
            <a:ext cx="36575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DagsHub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80" y="3200400"/>
            <a:ext cx="3657599" cy="1051560"/>
          </a:xfrm>
          <a:prstGeom prst="roundRect">
            <a:avLst>
              <a:gd name="adj" fmla="val 6000"/>
            </a:avLst>
          </a:prstGeom>
          <a:solidFill>
            <a:srgbClr val="14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3346704"/>
            <a:ext cx="3200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Remote DVC (S3)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3730752"/>
            <a:ext cx="320039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FD3E2"/>
                </a:solidFill>
                <a:latin typeface="Calibri"/>
              </a:rPr>
              <a:t>stockage versionné des données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80" y="4407408"/>
            <a:ext cx="3657599" cy="1051560"/>
          </a:xfrm>
          <a:prstGeom prst="roundRect">
            <a:avLst>
              <a:gd name="adj" fmla="val 6000"/>
            </a:avLst>
          </a:prstGeom>
          <a:solidFill>
            <a:srgbClr val="14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4553712"/>
            <a:ext cx="3200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MLflow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4937760"/>
            <a:ext cx="320039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FD3E2"/>
                </a:solidFill>
                <a:latin typeface="Calibri"/>
              </a:rPr>
              <a:t>tracking d'expériences + Model Registry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99632"/>
            <a:ext cx="1106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822A"/>
                </a:solidFill>
                <a:latin typeface="Calibri"/>
              </a:rPr>
              <a:t>Pourquoi ce choix ?  </a:t>
            </a:r>
            <a:r>
              <a:rPr sz="1250" b="0" i="0">
                <a:solidFill>
                  <a:srgbClr val="5E7284"/>
                </a:solidFill>
                <a:latin typeface="Calibri"/>
              </a:rPr>
              <a:t>isolation des dépendances (chaque service son image), responsabilités séparées, briques remplaçables et testables séparément.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8C9E"/>
                </a:solidFill>
                <a:latin typeface="Calibri"/>
              </a:rPr>
              <a:t>03 · DONNÉES ·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6283A"/>
                </a:solidFill>
                <a:latin typeface="Cambria"/>
              </a:rPr>
              <a:t>D'où viennent les données ?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783080"/>
            <a:ext cx="310896" cy="310896"/>
          </a:xfrm>
          <a:prstGeom prst="ellipse">
            <a:avLst/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73736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A"/>
                </a:solidFill>
                <a:latin typeface="Calibri"/>
              </a:rPr>
              <a:t>Source officielle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057400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E7284"/>
                </a:solidFill>
                <a:latin typeface="Calibri"/>
              </a:rPr>
              <a:t>Bureau of Meteorology — bom.gov.au (« Daily Weather Observations »).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715768"/>
            <a:ext cx="310896" cy="310896"/>
          </a:xfrm>
          <a:prstGeom prst="ellipse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670048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A"/>
                </a:solidFill>
                <a:latin typeface="Calibri"/>
              </a:rPr>
              <a:t>Un CSV par station / par mois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990087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E7284"/>
                </a:solidFill>
                <a:latin typeface="Calibri"/>
              </a:rPr>
              <a:t>URL templatée : /dwo/{AAAAMM}/text/{bom_id}.{AAAAMM}.csv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648456"/>
            <a:ext cx="310896" cy="310896"/>
          </a:xfrm>
          <a:prstGeom prst="ellipse">
            <a:avLst/>
          </a:prstGeom>
          <a:solidFill>
            <a:srgbClr val="C98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602736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A"/>
                </a:solidFill>
                <a:latin typeface="Calibri"/>
              </a:rPr>
              <a:t>Fenêtre de collecte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922776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E7284"/>
                </a:solidFill>
                <a:latin typeface="Calibri"/>
              </a:rPr>
              <a:t>49 stations × 2 mois (mois courant + précédent) à chaque cycle.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581144"/>
            <a:ext cx="310896" cy="310896"/>
          </a:xfrm>
          <a:prstGeom prst="ellipse">
            <a:avLst/>
          </a:prstGeom>
          <a:solidFill>
            <a:srgbClr val="0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535424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A"/>
                </a:solidFill>
                <a:latin typeface="Calibri"/>
              </a:rPr>
              <a:t>Nettoyage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855464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E7284"/>
                </a:solidFill>
                <a:latin typeface="Calibri"/>
              </a:rPr>
              <a:t>parsing, renommage &amp; typage des colonnes, gestion des valeurs manquantes.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783080"/>
            <a:ext cx="4572000" cy="370332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196596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8C9E"/>
                </a:solidFill>
                <a:latin typeface="Calibri"/>
              </a:rPr>
              <a:t>DU BRUT AUX DATASETS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377440"/>
            <a:ext cx="393192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62088" y="2551176"/>
            <a:ext cx="219456" cy="219456"/>
          </a:xfrm>
          <a:prstGeom prst="ellipse">
            <a:avLst/>
          </a:prstGeom>
          <a:solidFill>
            <a:srgbClr val="94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2432304"/>
            <a:ext cx="3337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83A"/>
                </a:solidFill>
                <a:latin typeface="Calibri"/>
              </a:rPr>
              <a:t>CSV brut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679192"/>
            <a:ext cx="3337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E7284"/>
                </a:solidFill>
                <a:latin typeface="Calibri"/>
              </a:rPr>
              <a:t>BOM — data/raw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7635240" y="2953512"/>
            <a:ext cx="146304" cy="164592"/>
          </a:xfrm>
          <a:prstGeom prst="downArrow">
            <a:avLst/>
          </a:prstGeom>
          <a:solidFill>
            <a:srgbClr val="B8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06640" y="3154680"/>
            <a:ext cx="393192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62088" y="3328416"/>
            <a:ext cx="219456" cy="219456"/>
          </a:xfrm>
          <a:prstGeom prst="ellipse">
            <a:avLst/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3209544"/>
            <a:ext cx="3337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83A"/>
                </a:solidFill>
                <a:latin typeface="Calibri"/>
              </a:rPr>
              <a:t>CSV nettoyé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3456432"/>
            <a:ext cx="3337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E7284"/>
                </a:solidFill>
                <a:latin typeface="Calibri"/>
              </a:rPr>
              <a:t>data/processed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7635240" y="3730752"/>
            <a:ext cx="146304" cy="164592"/>
          </a:xfrm>
          <a:prstGeom prst="downArrow">
            <a:avLst/>
          </a:prstGeom>
          <a:solidFill>
            <a:srgbClr val="B8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06640" y="3931920"/>
            <a:ext cx="393192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62088" y="4105656"/>
            <a:ext cx="219456" cy="219456"/>
          </a:xfrm>
          <a:prstGeom prst="ellipse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3986783"/>
            <a:ext cx="3337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83A"/>
                </a:solidFill>
                <a:latin typeface="Calibri"/>
              </a:rPr>
              <a:t>.parquet / station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4233672"/>
            <a:ext cx="3337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E7284"/>
                </a:solidFill>
                <a:latin typeface="Calibri"/>
              </a:rPr>
              <a:t>data/features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7635240" y="4507992"/>
            <a:ext cx="146304" cy="164592"/>
          </a:xfrm>
          <a:prstGeom prst="downArrow">
            <a:avLst/>
          </a:prstGeom>
          <a:solidFill>
            <a:srgbClr val="B8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06640" y="4709159"/>
            <a:ext cx="393192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562088" y="4882896"/>
            <a:ext cx="219456" cy="21945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4764023"/>
            <a:ext cx="3337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83A"/>
                </a:solidFill>
                <a:latin typeface="Calibri"/>
              </a:rPr>
              <a:t>train · test · valid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5010912"/>
            <a:ext cx="3337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E7284"/>
                </a:solidFill>
                <a:latin typeface="Calibri"/>
              </a:rPr>
              <a:t>data/datasets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8C9E"/>
                </a:solidFill>
                <a:latin typeface="Calibri"/>
              </a:rPr>
              <a:t>03 · DONNÉES · CIBLE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6283A"/>
                </a:solidFill>
                <a:latin typeface="Cambria"/>
              </a:rPr>
              <a:t>Variables mesurées &amp; construction de la cible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532120" cy="379476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C6E8C"/>
                </a:solidFill>
                <a:latin typeface="Calibri"/>
              </a:rPr>
              <a:t>≈ 21 VARIABLES BRUTES /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9377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6283A"/>
                </a:solidFill>
                <a:latin typeface="Calibri"/>
              </a:rPr>
              <a:t>•  Températures : min, max, 9h, 15h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6283A"/>
                </a:solidFill>
                <a:latin typeface="Calibri"/>
              </a:rPr>
              <a:t>•  Pluie (mm) · Évaporation · Ensoleillement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6283A"/>
                </a:solidFill>
                <a:latin typeface="Calibri"/>
              </a:rPr>
              <a:t>•  Vent : direction &amp; vitesse (rafale, 9h, 15h)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6283A"/>
                </a:solidFill>
                <a:latin typeface="Calibri"/>
              </a:rPr>
              <a:t>•  Humidité relative (9h / 15h)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6283A"/>
                </a:solidFill>
                <a:latin typeface="Calibri"/>
              </a:rPr>
              <a:t>•  Pression MSL (9h / 15h) · Nébulosité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78308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C9822A"/>
                </a:solidFill>
                <a:latin typeface="Calibri"/>
              </a:rPr>
              <a:t>LA CIBLE À PRÉDIRE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148840"/>
            <a:ext cx="53035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30428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C6E8C"/>
                </a:solidFill>
                <a:latin typeface="Calibri"/>
              </a:rPr>
              <a:t>RainToday  </a:t>
            </a:r>
            <a:r>
              <a:rPr sz="1350" b="0" i="0">
                <a:solidFill>
                  <a:srgbClr val="5E7284"/>
                </a:solidFill>
                <a:latin typeface="Calibri"/>
              </a:rPr>
              <a:t>= Rainfall &gt; 1 mm  →  Oui / Non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812280" y="3063240"/>
            <a:ext cx="164592" cy="201168"/>
          </a:xfrm>
          <a:prstGeom prst="down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3310128"/>
            <a:ext cx="5303520" cy="868680"/>
          </a:xfrm>
          <a:prstGeom prst="roundRect">
            <a:avLst>
              <a:gd name="adj" fmla="val 8000"/>
            </a:avLst>
          </a:prstGeom>
          <a:solidFill>
            <a:srgbClr val="0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465576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RainTomorrow  </a:t>
            </a:r>
            <a:r>
              <a:rPr sz="1350" b="0" i="0">
                <a:solidFill>
                  <a:srgbClr val="C7D6E2"/>
                </a:solidFill>
                <a:latin typeface="Calibri"/>
              </a:rPr>
              <a:t>= RainToday décalé de −1 jour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480560"/>
            <a:ext cx="5303520" cy="1097280"/>
          </a:xfrm>
          <a:prstGeom prst="roundRect">
            <a:avLst>
              <a:gd name="adj" fmla="val 6000"/>
            </a:avLst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617720"/>
            <a:ext cx="4754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C9822A"/>
                </a:solidFill>
                <a:latin typeface="Calibri"/>
              </a:rPr>
              <a:t>Classes déséquilibrées.  </a:t>
            </a:r>
            <a:r>
              <a:rPr sz="1250" b="0" i="0">
                <a:solidFill>
                  <a:srgbClr val="6B5836"/>
                </a:solidFill>
                <a:latin typeface="Calibri"/>
              </a:rPr>
              <a:t>Les jours de pluie sont minoritaires → géré à l'entraînement (pondération) et évalué avec la PR-AUC plutôt que l'accuracy.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8C9E"/>
                </a:solidFill>
                <a:latin typeface="Calibri"/>
              </a:rPr>
              <a:t>04 · MODÈLE ·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6283A"/>
                </a:solidFill>
                <a:latin typeface="Cambria"/>
              </a:rPr>
              <a:t>Les features calculées pour le modèle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2039112"/>
            <a:ext cx="310896" cy="310896"/>
          </a:xfrm>
          <a:prstGeom prst="ellipse">
            <a:avLst/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02536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283A"/>
                </a:solidFill>
                <a:latin typeface="Calibri"/>
              </a:rPr>
              <a:t>Temporel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49631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C6E8C"/>
                </a:solidFill>
                <a:latin typeface="Calibri"/>
              </a:rPr>
              <a:t>dayofyear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843784"/>
            <a:ext cx="452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E7284"/>
                </a:solidFill>
                <a:latin typeface="Calibri"/>
              </a:rPr>
              <a:t>capture la saisonnalité (jour de l'année).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73952" y="2039112"/>
            <a:ext cx="310896" cy="310896"/>
          </a:xfrm>
          <a:prstGeom prst="ellipse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2002536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283A"/>
                </a:solidFill>
                <a:latin typeface="Calibri"/>
              </a:rPr>
              <a:t>Géographique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249631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8C9E"/>
                </a:solidFill>
                <a:latin typeface="Calibri"/>
              </a:rPr>
              <a:t>latitude · longitude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2843784"/>
            <a:ext cx="452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E7284"/>
                </a:solidFill>
                <a:latin typeface="Calibri"/>
              </a:rPr>
              <a:t>localise chaque station météo.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21608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4672" y="3977640"/>
            <a:ext cx="310896" cy="310896"/>
          </a:xfrm>
          <a:prstGeom prst="ellipse">
            <a:avLst/>
          </a:prstGeom>
          <a:solidFill>
            <a:srgbClr val="C98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941064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283A"/>
                </a:solidFill>
                <a:latin typeface="Calibri"/>
              </a:rPr>
              <a:t>Vent — encodage cyclique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434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822A"/>
                </a:solidFill>
                <a:latin typeface="Calibri"/>
              </a:rPr>
              <a:t>WindGustDir → sin / 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782312"/>
            <a:ext cx="452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E7284"/>
                </a:solidFill>
                <a:latin typeface="Calibri"/>
              </a:rPr>
              <a:t>évite la discontinuité 360° ≈ 0°.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21608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73952" y="3977640"/>
            <a:ext cx="310896" cy="310896"/>
          </a:xfrm>
          <a:prstGeom prst="ellipse">
            <a:avLst/>
          </a:prstGeom>
          <a:solidFill>
            <a:srgbClr val="0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3941064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283A"/>
                </a:solidFill>
                <a:latin typeface="Calibri"/>
              </a:rPr>
              <a:t>Historique — lags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4434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3A5F"/>
                </a:solidFill>
                <a:latin typeface="Calibri"/>
              </a:rPr>
              <a:t>J-1 &amp; J-3 sur 8 variables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4782312"/>
            <a:ext cx="452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E7284"/>
                </a:solidFill>
                <a:latin typeface="Calibri"/>
              </a:rPr>
              <a:t>temp, pluie, vent, humidité, pression.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822A"/>
                </a:solidFill>
                <a:latin typeface="Calibri"/>
              </a:rPr>
              <a:t>Idée directrice :  </a:t>
            </a:r>
            <a:r>
              <a:rPr sz="1300" b="0" i="0">
                <a:solidFill>
                  <a:srgbClr val="5E7284"/>
                </a:solidFill>
                <a:latin typeface="Calibri"/>
              </a:rPr>
              <a:t>saison, position, direction du vent (sans rupture d'angle) et surtout la </a:t>
            </a:r>
            <a:r>
              <a:rPr sz="1300" b="1" i="0">
                <a:solidFill>
                  <a:srgbClr val="16283A"/>
                </a:solidFill>
                <a:latin typeface="Calibri"/>
              </a:rPr>
              <a:t>dynamique récente</a:t>
            </a:r>
            <a:r>
              <a:rPr sz="1300" b="0" i="0">
                <a:solidFill>
                  <a:srgbClr val="5E7284"/>
                </a:solidFill>
                <a:latin typeface="Calibri"/>
              </a:rPr>
              <a:t> via les décalages temporels.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8C9E"/>
                </a:solidFill>
                <a:latin typeface="Calibri"/>
              </a:rPr>
              <a:t>04 · MODÈLE · ALGORITHME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6283A"/>
                </a:solidFill>
                <a:latin typeface="Cambria"/>
              </a:rPr>
              <a:t>XGBoost : classification binaire de la pluie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C6E8C"/>
                </a:solidFill>
                <a:latin typeface="Calibri"/>
              </a:rPr>
              <a:t>POURQUOI XGBOOST ?</a:t>
            </a:r>
          </a:p>
        </p:txBody>
      </p:sp>
      <p:sp>
        <p:nvSpPr>
          <p:cNvPr id="5" name="Oval 4"/>
          <p:cNvSpPr/>
          <p:nvPr/>
        </p:nvSpPr>
        <p:spPr>
          <a:xfrm>
            <a:off x="585216" y="2167128"/>
            <a:ext cx="201168" cy="201168"/>
          </a:xfrm>
          <a:prstGeom prst="ellipse">
            <a:avLst/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5212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6283A"/>
                </a:solidFill>
                <a:latin typeface="Calibri"/>
              </a:rPr>
              <a:t>Données tabulaires.  </a:t>
            </a:r>
            <a:r>
              <a:rPr sz="1400" b="0" i="0">
                <a:solidFill>
                  <a:srgbClr val="5E7284"/>
                </a:solidFill>
                <a:latin typeface="Calibri"/>
              </a:rPr>
              <a:t>référence sur ce type de données hétérogènes.</a:t>
            </a:r>
          </a:p>
        </p:txBody>
      </p:sp>
      <p:sp>
        <p:nvSpPr>
          <p:cNvPr id="7" name="Oval 6"/>
          <p:cNvSpPr/>
          <p:nvPr/>
        </p:nvSpPr>
        <p:spPr>
          <a:xfrm>
            <a:off x="585216" y="2852928"/>
            <a:ext cx="201168" cy="201168"/>
          </a:xfrm>
          <a:prstGeom prst="ellipse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5212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6283A"/>
                </a:solidFill>
                <a:latin typeface="Calibri"/>
              </a:rPr>
              <a:t>Non-linéarités &amp; interactions.  </a:t>
            </a:r>
            <a:r>
              <a:rPr sz="1400" b="0" i="0">
                <a:solidFill>
                  <a:srgbClr val="5E7284"/>
                </a:solidFill>
                <a:latin typeface="Calibri"/>
              </a:rPr>
              <a:t>capturées nativement par les arbres boostés.</a:t>
            </a:r>
          </a:p>
        </p:txBody>
      </p:sp>
      <p:sp>
        <p:nvSpPr>
          <p:cNvPr id="9" name="Oval 8"/>
          <p:cNvSpPr/>
          <p:nvPr/>
        </p:nvSpPr>
        <p:spPr>
          <a:xfrm>
            <a:off x="585216" y="3538728"/>
            <a:ext cx="201168" cy="20116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47288"/>
            <a:ext cx="5212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6283A"/>
                </a:solidFill>
                <a:latin typeface="Calibri"/>
              </a:rPr>
              <a:t>Robuste &amp; rapide.  </a:t>
            </a:r>
            <a:r>
              <a:rPr sz="1400" b="0" i="0">
                <a:solidFill>
                  <a:srgbClr val="5E7284"/>
                </a:solidFill>
                <a:latin typeface="Calibri"/>
              </a:rPr>
              <a:t>early stopping pour éviter le sur-apprentissage.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562356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90288"/>
            <a:ext cx="5212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822A"/>
                </a:solidFill>
                <a:latin typeface="Calibri"/>
              </a:rPr>
              <a:t>Déséquilibre :  </a:t>
            </a:r>
            <a:r>
              <a:rPr sz="1300" b="1" i="0">
                <a:solidFill>
                  <a:srgbClr val="16283A"/>
                </a:solidFill>
                <a:latin typeface="Calibri"/>
              </a:rPr>
              <a:t>scale_pos_weight</a:t>
            </a:r>
            <a:r>
              <a:rPr sz="1300" b="0" i="0">
                <a:solidFill>
                  <a:srgbClr val="5E7284"/>
                </a:solidFill>
                <a:latin typeface="Calibri"/>
              </a:rPr>
              <a:t> (pondération de la classe « pluie ») + </a:t>
            </a:r>
            <a:r>
              <a:rPr sz="1300" b="1" i="0">
                <a:solidFill>
                  <a:srgbClr val="16283A"/>
                </a:solidFill>
                <a:latin typeface="Calibri"/>
              </a:rPr>
              <a:t>early stopping</a:t>
            </a:r>
            <a:r>
              <a:rPr sz="1300" b="0" i="0">
                <a:solidFill>
                  <a:srgbClr val="5E7284"/>
                </a:solidFill>
                <a:latin typeface="Calibr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737360"/>
            <a:ext cx="5120640" cy="1691640"/>
          </a:xfrm>
          <a:prstGeom prst="roundRect">
            <a:avLst>
              <a:gd name="adj" fmla="val 6000"/>
            </a:avLst>
          </a:prstGeom>
          <a:solidFill>
            <a:srgbClr val="0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9202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A33D"/>
                </a:solidFill>
                <a:latin typeface="Calibri"/>
              </a:rPr>
              <a:t>MÉTRIQUE DE SÉLECTION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21284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PR-AUC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880360"/>
            <a:ext cx="45354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7D6E2"/>
                </a:solidFill>
                <a:latin typeface="Calibri"/>
              </a:rPr>
              <a:t>Aire sous la courbe précision/rappel — bien plus fiable que l'accuracy quand les classes sont déséquilibrées.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C6E8C"/>
                </a:solidFill>
                <a:latin typeface="Calibri"/>
              </a:rPr>
              <a:t>DÉCOUPAGE CHRONOLOGIQUE (par station)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4023360"/>
            <a:ext cx="2852927" cy="685800"/>
          </a:xfrm>
          <a:prstGeom prst="roundRect">
            <a:avLst>
              <a:gd name="adj" fmla="val 8000"/>
            </a:avLst>
          </a:prstGeom>
          <a:solidFill>
            <a:srgbClr val="1C6E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114800"/>
            <a:ext cx="28529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75 %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407408"/>
            <a:ext cx="28529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0F6FA"/>
                </a:solidFill>
                <a:latin typeface="Calibri"/>
              </a:rPr>
              <a:t>Train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73768" y="4023360"/>
            <a:ext cx="1331366" cy="685800"/>
          </a:xfrm>
          <a:prstGeom prst="roundRect">
            <a:avLst>
              <a:gd name="adj" fmla="val 8000"/>
            </a:avLst>
          </a:prstGeom>
          <a:solidFill>
            <a:srgbClr val="2E8C9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73768" y="4114800"/>
            <a:ext cx="13313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73768" y="4407408"/>
            <a:ext cx="133136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0F6FA"/>
                </a:solidFill>
                <a:latin typeface="Calibri"/>
              </a:rPr>
              <a:t>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88014" y="4023360"/>
            <a:ext cx="570585" cy="6858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88014" y="4114800"/>
            <a:ext cx="57058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8014" y="4407408"/>
            <a:ext cx="57058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0F6FA"/>
                </a:solidFill>
                <a:latin typeface="Calibri"/>
              </a:rPr>
              <a:t>Valid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89204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5E7284"/>
                </a:solidFill>
                <a:latin typeface="Calibri"/>
              </a:rPr>
              <a:t>Le plus ancien → entraînement · le plus récent → validation (respecte le temps).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8C9E"/>
                </a:solidFill>
                <a:latin typeface="Calibri"/>
              </a:rPr>
              <a:t>05 · PIPELINE · DVC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6283A"/>
                </a:solidFill>
                <a:latin typeface="Cambria"/>
              </a:rPr>
              <a:t>DVC : versionner données &amp; pipeline comme du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2194560"/>
            <a:ext cx="402336" cy="402336"/>
          </a:xfrm>
          <a:prstGeom prst="ellipse">
            <a:avLst/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093976"/>
            <a:ext cx="2377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283A"/>
                </a:solidFill>
                <a:latin typeface="Calibri"/>
              </a:rPr>
              <a:t>raw_processed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450591"/>
            <a:ext cx="23774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7284"/>
                </a:solidFill>
                <a:latin typeface="Calibri"/>
              </a:rPr>
              <a:t>collect_raw.py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77639" y="2327148"/>
            <a:ext cx="219456" cy="146304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61688" y="1874519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62855" y="2194560"/>
            <a:ext cx="402336" cy="402336"/>
          </a:xfrm>
          <a:prstGeom prst="ellipse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7" y="2093976"/>
            <a:ext cx="2377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283A"/>
                </a:solidFill>
                <a:latin typeface="Calibri"/>
              </a:rPr>
              <a:t>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7" y="2450591"/>
            <a:ext cx="23774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7284"/>
                </a:solidFill>
                <a:latin typeface="Calibri"/>
              </a:rPr>
              <a:t>create_features.py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90688" y="2327148"/>
            <a:ext cx="219456" cy="146304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74736" y="1874519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75904" y="2194560"/>
            <a:ext cx="402336" cy="402336"/>
          </a:xfrm>
          <a:prstGeom prst="ellipse">
            <a:avLst/>
          </a:prstGeom>
          <a:solidFill>
            <a:srgbClr val="C98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6256" y="2093976"/>
            <a:ext cx="2377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283A"/>
                </a:solidFill>
                <a:latin typeface="Calibri"/>
              </a:rPr>
              <a:t>datasets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2450591"/>
            <a:ext cx="23774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7284"/>
                </a:solidFill>
                <a:latin typeface="Calibri"/>
              </a:rPr>
              <a:t>create_datasets.py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089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E7284"/>
                </a:solidFill>
                <a:latin typeface="Calibri"/>
              </a:rPr>
              <a:t>Déclaré dans </a:t>
            </a:r>
            <a:r>
              <a:rPr sz="1300" b="1" i="0">
                <a:solidFill>
                  <a:srgbClr val="1C6E8C"/>
                </a:solidFill>
                <a:latin typeface="Calibri"/>
              </a:rPr>
              <a:t>src/pipelines/dvc.yaml</a:t>
            </a:r>
            <a:r>
              <a:rPr sz="1300" b="0" i="0">
                <a:solidFill>
                  <a:srgbClr val="5E7284"/>
                </a:solidFill>
                <a:latin typeface="Calibri"/>
              </a:rPr>
              <a:t>  —  une chaîne reproductible de bout en bout.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" y="3913632"/>
            <a:ext cx="3099816" cy="457200"/>
          </a:xfrm>
          <a:prstGeom prst="roundRect">
            <a:avLst>
              <a:gd name="adj" fmla="val 12000"/>
            </a:avLst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50" b="1">
                <a:solidFill>
                  <a:srgbClr val="FFFFFF"/>
                </a:solidFill>
                <a:latin typeface="Consolas"/>
              </a:rPr>
              <a:t>dvc repro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526280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E7284"/>
                </a:solidFill>
                <a:latin typeface="Calibri"/>
              </a:rPr>
              <a:t>rejoue uniquement les étapes dont les entrées ont changé (cache intelligent).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65760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99432" y="3913632"/>
            <a:ext cx="3099816" cy="457200"/>
          </a:xfrm>
          <a:prstGeom prst="roundRect">
            <a:avLst>
              <a:gd name="adj" fmla="val 12000"/>
            </a:avLst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50" b="1">
                <a:solidFill>
                  <a:srgbClr val="FFFFFF"/>
                </a:solidFill>
                <a:latin typeface="Consolas"/>
              </a:rPr>
              <a:t>dvc push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526280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E7284"/>
                </a:solidFill>
                <a:latin typeface="Calibri"/>
              </a:rPr>
              <a:t>envoie les gros fichiers vers le stockage distant (DagsHub S3).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65760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94192" y="3913632"/>
            <a:ext cx="3099816" cy="457200"/>
          </a:xfrm>
          <a:prstGeom prst="roundRect">
            <a:avLst>
              <a:gd name="adj" fmla="val 12000"/>
            </a:avLst>
          </a:prstGeom>
          <a:solidFill>
            <a:srgbClr val="C98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50" b="1">
                <a:solidFill>
                  <a:srgbClr val="FFFFFF"/>
                </a:solidFill>
                <a:latin typeface="Consolas"/>
              </a:rPr>
              <a:t>git + dvc.lock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526280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E7284"/>
                </a:solidFill>
                <a:latin typeface="Calibri"/>
              </a:rPr>
              <a:t>Git ne versionne que des pointeurs légers, pas les données.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822A"/>
                </a:solidFill>
                <a:latin typeface="Calibri"/>
              </a:rPr>
              <a:t>Pourquoi DVC ?  </a:t>
            </a:r>
            <a:r>
              <a:rPr sz="1250" b="0" i="0">
                <a:solidFill>
                  <a:srgbClr val="5E7284"/>
                </a:solidFill>
                <a:latin typeface="Calibri"/>
              </a:rPr>
              <a:t>reproductibilité totale — on retrouve exactement les données ayant produit chaque modèle, sans stocker les gros fichiers dans Git.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8C9E"/>
                </a:solidFill>
                <a:latin typeface="Calibri"/>
              </a:rPr>
              <a:t>05 · PIPELINE · DAGSHUB + MLFLOW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6283A"/>
                </a:solidFill>
                <a:latin typeface="Cambria"/>
              </a:rPr>
              <a:t>DagsHub + MLflow : suivi et registre des modèles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C6E8C"/>
                </a:solidFill>
                <a:latin typeface="Calibri"/>
              </a:rPr>
              <a:t>MLFLOW (hébergé sur DagsHub)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2148840"/>
            <a:ext cx="310896" cy="310896"/>
          </a:xfrm>
          <a:prstGeom prst="ellipse">
            <a:avLst/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5212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16283A"/>
                </a:solidFill>
                <a:latin typeface="Calibri"/>
              </a:rPr>
              <a:t>Tracking.  </a:t>
            </a:r>
            <a:r>
              <a:rPr sz="1350" b="0" i="0">
                <a:solidFill>
                  <a:srgbClr val="5E7284"/>
                </a:solidFill>
                <a:latin typeface="Calibri"/>
              </a:rPr>
              <a:t>params, métriques et modèle loggés à chaque run.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990088"/>
            <a:ext cx="310896" cy="310896"/>
          </a:xfrm>
          <a:prstGeom prst="ellipse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44368"/>
            <a:ext cx="5212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16283A"/>
                </a:solidFill>
                <a:latin typeface="Calibri"/>
              </a:rPr>
              <a:t>Model Registry.  </a:t>
            </a:r>
            <a:r>
              <a:rPr sz="1350" b="0" i="0">
                <a:solidFill>
                  <a:srgbClr val="5E7284"/>
                </a:solidFill>
                <a:latin typeface="Calibri"/>
              </a:rPr>
              <a:t>modèle enregistré : XGBoost_WeatherAUS.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831336"/>
            <a:ext cx="310896" cy="310896"/>
          </a:xfrm>
          <a:prstGeom prst="ellipse">
            <a:avLst/>
          </a:prstGeom>
          <a:solidFill>
            <a:srgbClr val="C98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85616"/>
            <a:ext cx="5212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16283A"/>
                </a:solidFill>
                <a:latin typeface="Calibri"/>
              </a:rPr>
              <a:t>Alias best_model.  </a:t>
            </a:r>
            <a:r>
              <a:rPr sz="1350" b="0" i="0">
                <a:solidFill>
                  <a:srgbClr val="5E7284"/>
                </a:solidFill>
                <a:latin typeface="Calibri"/>
              </a:rPr>
              <a:t>le challenger est comparé au meilleur (PR-AUC)…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672584"/>
            <a:ext cx="310896" cy="310896"/>
          </a:xfrm>
          <a:prstGeom prst="ellipse">
            <a:avLst/>
          </a:prstGeom>
          <a:solidFill>
            <a:srgbClr val="0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26864"/>
            <a:ext cx="5212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16283A"/>
                </a:solidFill>
                <a:latin typeface="Calibri"/>
              </a:rPr>
              <a:t>Promotion.  </a:t>
            </a:r>
            <a:r>
              <a:rPr sz="1350" b="0" i="0">
                <a:solidFill>
                  <a:srgbClr val="5E7284"/>
                </a:solidFill>
                <a:latin typeface="Calibri"/>
              </a:rPr>
              <a:t>…et remplace best_model s'il est meilleur.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737360"/>
            <a:ext cx="5166360" cy="1965960"/>
          </a:xfrm>
          <a:prstGeom prst="roundRect">
            <a:avLst>
              <a:gd name="adj" fmla="val 6000"/>
            </a:avLst>
          </a:prstGeom>
          <a:solidFill>
            <a:srgbClr val="0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192024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A33D"/>
                </a:solidFill>
                <a:latin typeface="Calibri"/>
              </a:rPr>
              <a:t>DAGSHUB = 3 EN 1, AUTOUR DU REPO GIT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59" y="228600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14456B"/>
          </a:solidFill>
          <a:ln w="12700">
            <a:solidFill>
              <a:srgbClr val="2C60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59" y="2487168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2889504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8A33D"/>
                </a:solidFill>
                <a:latin typeface="Calibri"/>
              </a:rPr>
              <a:t>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59" y="228600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14456B"/>
          </a:solidFill>
          <a:ln w="12700">
            <a:solidFill>
              <a:srgbClr val="2C60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59" y="2487168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DVC remote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2889504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8A33D"/>
                </a:solidFill>
                <a:latin typeface="Calibri"/>
              </a:rPr>
              <a:t>données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59" y="228600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14456B"/>
          </a:solidFill>
          <a:ln w="12700">
            <a:solidFill>
              <a:srgbClr val="2C60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59" y="2487168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MLflow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9" y="2889504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8A33D"/>
                </a:solidFill>
                <a:latin typeface="Calibri"/>
              </a:rPr>
              <a:t>modèles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886200"/>
            <a:ext cx="5166360" cy="2331720"/>
          </a:xfrm>
          <a:prstGeom prst="roundRect">
            <a:avLst>
              <a:gd name="adj" fmla="val 5000"/>
            </a:avLst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59" y="406908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C9822A"/>
                </a:solidFill>
                <a:latin typeface="Calibri"/>
              </a:rPr>
              <a:t>POURQUOI C'EST PRATIQUE ICI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79" y="443484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0" i="0">
                <a:solidFill>
                  <a:srgbClr val="5C4A2E"/>
                </a:solidFill>
                <a:latin typeface="Calibri"/>
              </a:rPr>
              <a:t>•  Zéro infrastructure à héberger (pas de serveur MLflow, S3 ou base à gérer)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0" i="0">
                <a:solidFill>
                  <a:srgbClr val="5C4A2E"/>
                </a:solidFill>
                <a:latin typeface="Calibri"/>
              </a:rPr>
              <a:t>•  Une seule authentification par token pour DVC + MLflow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0" i="0">
                <a:solidFill>
                  <a:srgbClr val="5C4A2E"/>
                </a:solidFill>
                <a:latin typeface="Calibri"/>
              </a:rPr>
              <a:t>•  Gratuit et intégré au dépôt — idéal pour une petite équipe / 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8C9E"/>
                </a:solidFill>
                <a:latin typeface="Calibri"/>
              </a:rPr>
              <a:t>06 · PIPELINE COMPLET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6283A"/>
                </a:solidFill>
                <a:latin typeface="Cambria"/>
              </a:rPr>
              <a:t>De l'entraînement à l'inférence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ENTRAÎNEMENT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084831" cy="96012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32304"/>
            <a:ext cx="181051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6283A"/>
                </a:solidFill>
                <a:latin typeface="Calibri"/>
              </a:rPr>
              <a:t>Collecte BOM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816352"/>
            <a:ext cx="186537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E7284"/>
                </a:solidFill>
                <a:latin typeface="Calibri"/>
              </a:rPr>
              <a:t>49 stations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38044" y="2706624"/>
            <a:ext cx="118872" cy="118872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61488" y="2286000"/>
            <a:ext cx="2084831" cy="96012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8648" y="2432304"/>
            <a:ext cx="181051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6283A"/>
                </a:solidFill>
                <a:latin typeface="Calibri"/>
              </a:rPr>
              <a:t>DVC repro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1216" y="2816352"/>
            <a:ext cx="186537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E7284"/>
                </a:solidFill>
                <a:latin typeface="Calibri"/>
              </a:rPr>
              <a:t>features → datasets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50892" y="2706624"/>
            <a:ext cx="118872" cy="118872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74336" y="2286000"/>
            <a:ext cx="2084831" cy="96012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1496" y="2432304"/>
            <a:ext cx="181051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6283A"/>
                </a:solidFill>
                <a:latin typeface="Calibri"/>
              </a:rPr>
              <a:t>dvc push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2816352"/>
            <a:ext cx="186537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E7284"/>
                </a:solidFill>
                <a:latin typeface="Calibri"/>
              </a:rPr>
              <a:t>→ DagsHub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63739" y="2706624"/>
            <a:ext cx="118872" cy="118872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87183" y="2286000"/>
            <a:ext cx="2084831" cy="96012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2432304"/>
            <a:ext cx="181051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6283A"/>
                </a:solidFill>
                <a:latin typeface="Calibri"/>
              </a:rPr>
              <a:t>Train XGBoost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16352"/>
            <a:ext cx="186537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E7284"/>
                </a:solidFill>
                <a:latin typeface="Calibri"/>
              </a:rPr>
              <a:t>fit + éval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76588" y="2706624"/>
            <a:ext cx="118872" cy="118872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00032" y="2286000"/>
            <a:ext cx="2084831" cy="96012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37192" y="2432304"/>
            <a:ext cx="181051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6283A"/>
                </a:solidFill>
                <a:latin typeface="Calibri"/>
              </a:rPr>
              <a:t>MLflow Registry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59" y="2816352"/>
            <a:ext cx="186537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E7284"/>
                </a:solidFill>
                <a:latin typeface="Calibri"/>
              </a:rPr>
              <a:t>best_model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0195560" y="3310128"/>
            <a:ext cx="182880" cy="502920"/>
          </a:xfrm>
          <a:prstGeom prst="downArrow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3401568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1">
                <a:solidFill>
                  <a:srgbClr val="2E8C9E"/>
                </a:solidFill>
                <a:latin typeface="Calibri"/>
              </a:rPr>
              <a:t>best_model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977639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INFÉRENCE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617720"/>
            <a:ext cx="2633472" cy="960120"/>
          </a:xfrm>
          <a:prstGeom prst="roundRect">
            <a:avLst>
              <a:gd name="adj" fmla="val 8000"/>
            </a:avLst>
          </a:prstGeom>
          <a:solidFill>
            <a:srgbClr val="EAF3F5"/>
          </a:solidFill>
          <a:ln w="12700">
            <a:solidFill>
              <a:srgbClr val="C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764024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6283A"/>
                </a:solidFill>
                <a:latin typeface="Calibri"/>
              </a:rPr>
              <a:t>Collecte 1 ville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148072"/>
            <a:ext cx="241401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E7284"/>
                </a:solidFill>
                <a:latin typeface="Calibri"/>
              </a:rPr>
              <a:t>data/inference (JSON)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191256" y="5038344"/>
            <a:ext cx="118872" cy="118872"/>
          </a:xfrm>
          <a:prstGeom prst="rightArrow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19272" y="4617720"/>
            <a:ext cx="2633472" cy="960120"/>
          </a:xfrm>
          <a:prstGeom prst="roundRect">
            <a:avLst>
              <a:gd name="adj" fmla="val 8000"/>
            </a:avLst>
          </a:prstGeom>
          <a:solidFill>
            <a:srgbClr val="EAF3F5"/>
          </a:solidFill>
          <a:ln w="12700">
            <a:solidFill>
              <a:srgbClr val="C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56432" y="4764024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6283A"/>
                </a:solidFill>
                <a:latin typeface="Calibri"/>
              </a:rPr>
              <a:t>predict.py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5148072"/>
            <a:ext cx="241401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E7284"/>
                </a:solidFill>
                <a:latin typeface="Calibri"/>
              </a:rPr>
              <a:t>charge best_model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961888" y="5038344"/>
            <a:ext cx="118872" cy="118872"/>
          </a:xfrm>
          <a:prstGeom prst="rightArrow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89904" y="4617720"/>
            <a:ext cx="2633472" cy="960120"/>
          </a:xfrm>
          <a:prstGeom prst="roundRect">
            <a:avLst>
              <a:gd name="adj" fmla="val 8000"/>
            </a:avLst>
          </a:prstGeom>
          <a:solidFill>
            <a:srgbClr val="EAF3F5"/>
          </a:solidFill>
          <a:ln w="12700">
            <a:solidFill>
              <a:srgbClr val="C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7064" y="4764024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6283A"/>
                </a:solidFill>
                <a:latin typeface="Calibri"/>
              </a:rPr>
              <a:t>API FastAPI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2" y="5148072"/>
            <a:ext cx="241401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E7284"/>
                </a:solidFill>
                <a:latin typeface="Calibri"/>
              </a:rPr>
              <a:t>+ nginx (clé API)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732519" y="5038344"/>
            <a:ext cx="118872" cy="118872"/>
          </a:xfrm>
          <a:prstGeom prst="rightArrow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860536" y="4617720"/>
            <a:ext cx="2633472" cy="960120"/>
          </a:xfrm>
          <a:prstGeom prst="roundRect">
            <a:avLst>
              <a:gd name="adj" fmla="val 8000"/>
            </a:avLst>
          </a:prstGeom>
          <a:solidFill>
            <a:srgbClr val="EAF3F5"/>
          </a:solidFill>
          <a:ln w="12700">
            <a:solidFill>
              <a:srgbClr val="C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97696" y="4764024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6283A"/>
                </a:solidFill>
                <a:latin typeface="Calibri"/>
              </a:rPr>
              <a:t>Interface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0263" y="5148072"/>
            <a:ext cx="241401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E7284"/>
                </a:solidFill>
                <a:latin typeface="Calibri"/>
              </a:rPr>
              <a:t>Streamlit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822A"/>
                </a:solidFill>
                <a:latin typeface="Calibri"/>
              </a:rPr>
              <a:t>Le fil rouge :  </a:t>
            </a:r>
            <a:r>
              <a:rPr sz="1250" b="0" i="0">
                <a:solidFill>
                  <a:srgbClr val="5E7284"/>
                </a:solidFill>
                <a:latin typeface="Calibri"/>
              </a:rPr>
              <a:t>le Model Registry (DagsHub) relie les deux mondes — l'entraînement publie </a:t>
            </a:r>
            <a:r>
              <a:rPr sz="1250" b="1" i="0">
                <a:solidFill>
                  <a:srgbClr val="16283A"/>
                </a:solidFill>
                <a:latin typeface="Calibri"/>
              </a:rPr>
              <a:t>best_model</a:t>
            </a:r>
            <a:r>
              <a:rPr sz="1250" b="0" i="0">
                <a:solidFill>
                  <a:srgbClr val="5E7284"/>
                </a:solidFill>
                <a:latin typeface="Calibri"/>
              </a:rPr>
              <a:t>, l'inférence le télécharge.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54480" y="3749039"/>
            <a:ext cx="4389120" cy="4389120"/>
          </a:xfrm>
          <a:prstGeom prst="ellipse">
            <a:avLst/>
          </a:prstGeom>
          <a:solidFill>
            <a:srgbClr val="10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1463040"/>
            <a:ext cx="4389120" cy="4389120"/>
          </a:xfrm>
          <a:prstGeom prst="ellipse">
            <a:avLst/>
          </a:prstGeom>
          <a:solidFill>
            <a:srgbClr val="12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72000"/>
            <a:ext cx="2011680" cy="2011680"/>
          </a:xfrm>
          <a:prstGeom prst="ellipse">
            <a:avLst/>
          </a:prstGeom>
          <a:solidFill>
            <a:srgbClr val="1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8A33D"/>
                </a:solidFill>
                <a:latin typeface="Calibri"/>
              </a:rPr>
              <a:t>PARTIE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Orchestration, Monitoring &amp; Serving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7180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C7D6E2"/>
                </a:solidFill>
                <a:latin typeface="Calibri"/>
              </a:rPr>
              <a:t>Comment le système tourne, se surveille et s'expose — en continu.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9476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12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4041648"/>
            <a:ext cx="237744" cy="23774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4348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82803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AEC4D6"/>
                </a:solidFill>
                <a:latin typeface="Calibri"/>
              </a:rPr>
              <a:t>Airflow · 2 DAGs · versioning Git auto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79476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12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4041648"/>
            <a:ext cx="237744" cy="237744"/>
          </a:xfrm>
          <a:prstGeom prst="ellipse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4348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82803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AEC4D6"/>
                </a:solidFill>
                <a:latin typeface="Calibri"/>
              </a:rPr>
              <a:t>Evidently · Prometheus / Grafana · Slack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379476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12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75320" y="4041648"/>
            <a:ext cx="237744" cy="237744"/>
          </a:xfrm>
          <a:prstGeom prst="ellipse">
            <a:avLst/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44348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Serving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82803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AEC4D6"/>
                </a:solidFill>
                <a:latin typeface="Calibri"/>
              </a:rPr>
              <a:t>Nginx (API) · Streamlit (interface)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8C9E"/>
                </a:solidFill>
                <a:latin typeface="Calibri"/>
              </a:rPr>
              <a:t>07 ·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6283A"/>
                </a:solidFill>
                <a:latin typeface="Cambria"/>
              </a:rPr>
              <a:t>Airflow : 2 DAGs pour automatiser le 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6720840" cy="164592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83A"/>
                </a:solidFill>
                <a:latin typeface="Calibri"/>
              </a:rPr>
              <a:t>DAG 1 · </a:t>
            </a:r>
            <a:r>
              <a:rPr sz="1400" b="1" i="0">
                <a:solidFill>
                  <a:srgbClr val="1C6E8C"/>
                </a:solidFill>
                <a:latin typeface="Calibri"/>
              </a:rPr>
              <a:t>data_pipeline</a:t>
            </a:r>
            <a:r>
              <a:rPr sz="1200" b="0" i="0">
                <a:solidFill>
                  <a:srgbClr val="5E7284"/>
                </a:solidFill>
                <a:latin typeface="Calibri"/>
              </a:rPr>
              <a:t>   (@monthly)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6309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6283A"/>
                </a:solidFill>
                <a:latin typeface="Calibri"/>
              </a:rPr>
              <a:t>raw_processed → features → datasets → </a:t>
            </a:r>
            <a:r>
              <a:rPr sz="1250" b="1" i="1">
                <a:solidFill>
                  <a:srgbClr val="C9822A"/>
                </a:solidFill>
                <a:latin typeface="Calibri"/>
              </a:rPr>
              <a:t>drift_report*</a:t>
            </a:r>
            <a:r>
              <a:rPr sz="1250" b="0" i="0">
                <a:solidFill>
                  <a:srgbClr val="16283A"/>
                </a:solidFill>
                <a:latin typeface="Calibri"/>
              </a:rPr>
              <a:t> → dvc_push → git_commit_push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33488" y="2395728"/>
            <a:ext cx="274320" cy="164592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210312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C9822A"/>
                </a:solidFill>
                <a:latin typeface="Calibri"/>
              </a:rPr>
              <a:t>trigger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691640"/>
            <a:ext cx="3931920" cy="164592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847088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83A"/>
                </a:solidFill>
                <a:latin typeface="Calibri"/>
              </a:rPr>
              <a:t>DAG 2 · </a:t>
            </a:r>
            <a:r>
              <a:rPr sz="1400" b="1" i="0">
                <a:solidFill>
                  <a:srgbClr val="2E8C9E"/>
                </a:solidFill>
                <a:latin typeface="Calibri"/>
              </a:rPr>
              <a:t>model_training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240280"/>
            <a:ext cx="3520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6283A"/>
                </a:solidFill>
                <a:latin typeface="Calibri"/>
              </a:rPr>
              <a:t>train_model → </a:t>
            </a:r>
            <a:r>
              <a:rPr sz="1250" b="1" i="1">
                <a:solidFill>
                  <a:srgbClr val="C9822A"/>
                </a:solidFill>
                <a:latin typeface="Calibri"/>
              </a:rPr>
              <a:t>update_reference*</a:t>
            </a:r>
            <a:r>
              <a:rPr sz="1250" b="0" i="0">
                <a:solidFill>
                  <a:srgbClr val="16283A"/>
                </a:solidFill>
                <a:latin typeface="Calibri"/>
              </a:rPr>
              <a:t> → restart_api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59" y="3931920"/>
            <a:ext cx="237744" cy="237744"/>
          </a:xfrm>
          <a:prstGeom prst="ellipse">
            <a:avLst/>
          </a:prstGeom>
          <a:solidFill>
            <a:srgbClr val="C98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297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A"/>
                </a:solidFill>
                <a:latin typeface="Calibri"/>
              </a:rPr>
              <a:t>Pourquoi 2 DAGs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681728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E7284"/>
                </a:solidFill>
                <a:latin typeface="Calibri"/>
              </a:rPr>
              <a:t>Relancer l'un sans l'autre : juste collecter, ou juste réentraîner (ex. après un ajustement du modèle).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65760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17720" y="3931920"/>
            <a:ext cx="237744" cy="237744"/>
          </a:xfrm>
          <a:prstGeom prst="ellipse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297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A"/>
                </a:solidFill>
                <a:latin typeface="Calibri"/>
              </a:rPr>
              <a:t>Versioning automatique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681728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E7284"/>
                </a:solidFill>
                <a:latin typeface="Calibri"/>
              </a:rPr>
              <a:t>Le pipeline commit &amp; push dvc.lock sur Git à chaque exécution.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65760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80" y="3931920"/>
            <a:ext cx="237744" cy="237744"/>
          </a:xfrm>
          <a:prstGeom prst="ellipse">
            <a:avLst/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297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A"/>
                </a:solidFill>
                <a:latin typeface="Calibri"/>
              </a:rPr>
              <a:t>Exécution isolée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681728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E7284"/>
                </a:solidFill>
                <a:latin typeface="Calibri"/>
              </a:rPr>
              <a:t>Chaque tâche tourne dans son propre conteneur (DockerOperator).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822A"/>
                </a:solidFill>
                <a:latin typeface="Calibri"/>
              </a:rPr>
              <a:t>* </a:t>
            </a:r>
            <a:r>
              <a:rPr sz="1200" b="0" i="1">
                <a:solidFill>
                  <a:srgbClr val="16283A"/>
                </a:solidFill>
                <a:latin typeface="Calibri"/>
              </a:rPr>
              <a:t>drift_report</a:t>
            </a:r>
            <a:r>
              <a:rPr sz="1200" b="0" i="0">
                <a:solidFill>
                  <a:srgbClr val="5E7284"/>
                </a:solidFill>
                <a:latin typeface="Calibri"/>
              </a:rPr>
              <a:t> et </a:t>
            </a:r>
            <a:r>
              <a:rPr sz="1200" b="0" i="1">
                <a:solidFill>
                  <a:srgbClr val="16283A"/>
                </a:solidFill>
                <a:latin typeface="Calibri"/>
              </a:rPr>
              <a:t>update_reference</a:t>
            </a:r>
            <a:r>
              <a:rPr sz="1200" b="0" i="0">
                <a:solidFill>
                  <a:srgbClr val="5E7284"/>
                </a:solidFill>
                <a:latin typeface="Calibri"/>
              </a:rPr>
              <a:t> sont prévus — pas encore branchés dans les DAGs.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8C9E"/>
                </a:solidFill>
                <a:latin typeface="Calibri"/>
              </a:rPr>
              <a:t>08 · MONITORING · DRIFT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6283A"/>
                </a:solidFill>
                <a:latin typeface="Cambria"/>
              </a:rPr>
              <a:t>Evidently : suivi de la dérive des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C6E8C"/>
                </a:solidFill>
                <a:latin typeface="Calibri"/>
              </a:rPr>
              <a:t>CE QU'ON COMPARE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94960" cy="868680"/>
          </a:xfrm>
          <a:prstGeom prst="roundRect">
            <a:avLst>
              <a:gd name="adj" fmla="val 7000"/>
            </a:avLst>
          </a:prstGeom>
          <a:solidFill>
            <a:srgbClr val="0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58568"/>
            <a:ext cx="4937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Référence  </a:t>
            </a:r>
            <a:r>
              <a:rPr sz="1250" b="0" i="0">
                <a:solidFill>
                  <a:srgbClr val="C7D6E2"/>
                </a:solidFill>
                <a:latin typeface="Calibri"/>
              </a:rPr>
              <a:t>snapshot figé du modèle déployé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303580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1">
                <a:solidFill>
                  <a:srgbClr val="5E7284"/>
                </a:solidFill>
                <a:latin typeface="Calibri"/>
              </a:rPr>
              <a:t>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64992"/>
            <a:ext cx="5394960" cy="868680"/>
          </a:xfrm>
          <a:prstGeom prst="roundRect">
            <a:avLst>
              <a:gd name="adj" fmla="val 7000"/>
            </a:avLst>
          </a:prstGeom>
          <a:solidFill>
            <a:srgbClr val="F1F5F8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4937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C6E8C"/>
                </a:solidFill>
                <a:latin typeface="Calibri"/>
              </a:rPr>
              <a:t>Courant  </a:t>
            </a:r>
            <a:r>
              <a:rPr sz="1250" b="0" i="0">
                <a:solidFill>
                  <a:srgbClr val="5E7284"/>
                </a:solidFill>
                <a:latin typeface="Calibri"/>
              </a:rPr>
              <a:t>nouveau dataset d'entraînement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E7284"/>
                </a:solidFill>
                <a:latin typeface="Calibri"/>
              </a:rPr>
              <a:t>Chaque mois, on mesure si les données ont </a:t>
            </a:r>
            <a:r>
              <a:rPr sz="1250" b="1" i="0">
                <a:solidFill>
                  <a:srgbClr val="16283A"/>
                </a:solidFill>
                <a:latin typeface="Calibri"/>
              </a:rPr>
              <a:t>dérivé</a:t>
            </a:r>
            <a:r>
              <a:rPr sz="1250" b="0" i="0">
                <a:solidFill>
                  <a:srgbClr val="5E7284"/>
                </a:solidFill>
                <a:latin typeface="Calibri"/>
              </a:rPr>
              <a:t> par rapport à celles ayant entraîné le modèle en production.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C9822A"/>
                </a:solidFill>
                <a:latin typeface="Calibri"/>
              </a:rPr>
              <a:t>LES MÉTRIQUES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0312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10528" y="2304288"/>
            <a:ext cx="201168" cy="201168"/>
          </a:xfrm>
          <a:prstGeom prst="ellipse">
            <a:avLst/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2258568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83A"/>
                </a:solidFill>
                <a:latin typeface="Calibri"/>
              </a:rPr>
              <a:t>Data drift (features)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59689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E7284"/>
                </a:solidFill>
                <a:latin typeface="Calibri"/>
              </a:rPr>
              <a:t>Test statistique par colonne → share_of_drifted_columns (% de colonnes driftées) ; dataset_drift = vrai si la part dépasse le seuil (déf. 50 %).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383279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10528" y="3584448"/>
            <a:ext cx="201168" cy="201168"/>
          </a:xfrm>
          <a:prstGeom prst="ellipse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3538727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83A"/>
                </a:solidFill>
                <a:latin typeface="Calibri"/>
              </a:rPr>
              <a:t>Target drift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87705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E7284"/>
                </a:solidFill>
                <a:latin typeface="Calibri"/>
              </a:rPr>
              <a:t>Dérive de la distribution de la cible RainTomorrow : target_drift_score + target_drift_detected.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66344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0528" y="4864607"/>
            <a:ext cx="201168" cy="201168"/>
          </a:xfrm>
          <a:prstGeom prst="ellipse">
            <a:avLst/>
          </a:prstGeom>
          <a:solidFill>
            <a:srgbClr val="C98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4818888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83A"/>
                </a:solidFill>
                <a:latin typeface="Calibri"/>
              </a:rPr>
              <a:t>Sorties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1572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E7284"/>
                </a:solidFill>
                <a:latin typeface="Calibri"/>
              </a:rPr>
              <a:t>Rapport HTML détaillé + métriques loggées dans MLflow → historique mois après mois.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8C9E"/>
                </a:solidFill>
                <a:latin typeface="Calibri"/>
              </a:rPr>
              <a:t>08 · MONITORING · TEMPS RÉEL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6283A"/>
                </a:solidFill>
                <a:latin typeface="Cambria"/>
              </a:rPr>
              <a:t>Prometheus, Grafana &amp; alertes Slack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E7284"/>
                </a:solidFill>
                <a:latin typeface="Calibri"/>
              </a:rPr>
              <a:t>L'API est instrumentée (</a:t>
            </a:r>
            <a:r>
              <a:rPr sz="1300" b="1" i="0">
                <a:solidFill>
                  <a:srgbClr val="1C6E8C"/>
                </a:solidFill>
                <a:latin typeface="Calibri"/>
              </a:rPr>
              <a:t>/metrics</a:t>
            </a:r>
            <a:r>
              <a:rPr sz="1300" b="0" i="0">
                <a:solidFill>
                  <a:srgbClr val="5E7284"/>
                </a:solidFill>
                <a:latin typeface="Calibri"/>
              </a:rPr>
              <a:t>) → Prometheus scrape, Grafana affiche &amp; alerte.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C6E8C"/>
                </a:solidFill>
                <a:latin typeface="Calibri"/>
              </a:rPr>
              <a:t>LE DASHBOARD GRAFANA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2743200" cy="502920"/>
          </a:xfrm>
          <a:prstGeom prst="roundRect">
            <a:avLst>
              <a:gd name="adj" fmla="val 14000"/>
            </a:avLst>
          </a:prstGeom>
          <a:solidFill>
            <a:srgbClr val="F1F5F8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2510027"/>
            <a:ext cx="146304" cy="146304"/>
          </a:xfrm>
          <a:prstGeom prst="ellipse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331720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6283A"/>
                </a:solidFill>
                <a:latin typeface="Calibri"/>
              </a:rPr>
              <a:t>API Status (UP / DOWN)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331720"/>
            <a:ext cx="2743200" cy="502920"/>
          </a:xfrm>
          <a:prstGeom prst="roundRect">
            <a:avLst>
              <a:gd name="adj" fmla="val 14000"/>
            </a:avLst>
          </a:prstGeom>
          <a:solidFill>
            <a:srgbClr val="F1F5F8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39312" y="2510027"/>
            <a:ext cx="146304" cy="146304"/>
          </a:xfrm>
          <a:prstGeom prst="ellipse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77056" y="2331720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6283A"/>
                </a:solidFill>
                <a:latin typeface="Calibri"/>
              </a:rPr>
              <a:t>Prédictions (total)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99232"/>
            <a:ext cx="2743200" cy="502920"/>
          </a:xfrm>
          <a:prstGeom prst="roundRect">
            <a:avLst>
              <a:gd name="adj" fmla="val 14000"/>
            </a:avLst>
          </a:prstGeom>
          <a:solidFill>
            <a:srgbClr val="F1F5F8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177539"/>
            <a:ext cx="146304" cy="146304"/>
          </a:xfrm>
          <a:prstGeom prst="ellipse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999232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6283A"/>
                </a:solidFill>
                <a:latin typeface="Calibri"/>
              </a:rPr>
              <a:t>Taux d'échec (%)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999232"/>
            <a:ext cx="2743200" cy="502920"/>
          </a:xfrm>
          <a:prstGeom prst="roundRect">
            <a:avLst>
              <a:gd name="adj" fmla="val 14000"/>
            </a:avLst>
          </a:prstGeom>
          <a:solidFill>
            <a:srgbClr val="F1F5F8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39312" y="3177539"/>
            <a:ext cx="146304" cy="146304"/>
          </a:xfrm>
          <a:prstGeom prst="ellipse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77056" y="2999232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6283A"/>
                </a:solidFill>
                <a:latin typeface="Calibri"/>
              </a:rPr>
              <a:t>Requêtes /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66744"/>
            <a:ext cx="2743200" cy="502920"/>
          </a:xfrm>
          <a:prstGeom prst="roundRect">
            <a:avLst>
              <a:gd name="adj" fmla="val 14000"/>
            </a:avLst>
          </a:prstGeom>
          <a:solidFill>
            <a:srgbClr val="F1F5F8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3845052"/>
            <a:ext cx="146304" cy="146304"/>
          </a:xfrm>
          <a:prstGeom prst="ellipse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666744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6283A"/>
                </a:solidFill>
                <a:latin typeface="Calibri"/>
              </a:rPr>
              <a:t>Confidence (moy. &amp; p95)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3666744"/>
            <a:ext cx="2743200" cy="502920"/>
          </a:xfrm>
          <a:prstGeom prst="roundRect">
            <a:avLst>
              <a:gd name="adj" fmla="val 14000"/>
            </a:avLst>
          </a:prstGeom>
          <a:solidFill>
            <a:srgbClr val="F1F5F8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39312" y="3845052"/>
            <a:ext cx="146304" cy="146304"/>
          </a:xfrm>
          <a:prstGeom prst="ellipse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77056" y="3666744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6283A"/>
                </a:solidFill>
                <a:latin typeface="Calibri"/>
              </a:rPr>
              <a:t>Prédictions pluie / pas pluie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334256"/>
            <a:ext cx="2743200" cy="502920"/>
          </a:xfrm>
          <a:prstGeom prst="roundRect">
            <a:avLst>
              <a:gd name="adj" fmla="val 14000"/>
            </a:avLst>
          </a:prstGeom>
          <a:solidFill>
            <a:srgbClr val="F1F5F8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3232" y="4512564"/>
            <a:ext cx="146304" cy="146304"/>
          </a:xfrm>
          <a:prstGeom prst="ellipse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4334256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6283A"/>
                </a:solidFill>
                <a:latin typeface="Calibri"/>
              </a:rPr>
              <a:t>Latence API p95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965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C9822A"/>
                </a:solidFill>
                <a:latin typeface="Calibri"/>
              </a:rPr>
              <a:t>LES ALERTES → SLACK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2331720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83680" y="2734056"/>
            <a:ext cx="237744" cy="23774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31152" y="2514600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A"/>
                </a:solidFill>
                <a:latin typeface="Calibri"/>
              </a:rPr>
              <a:t>API 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2" y="2852927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7284"/>
                </a:solidFill>
                <a:latin typeface="Calibri"/>
              </a:rPr>
              <a:t>up &lt; 1 pendant 1 min</a:t>
            </a:r>
            <a:r>
              <a:rPr sz="1100" b="1" i="0">
                <a:solidFill>
                  <a:srgbClr val="C0392B"/>
                </a:solidFill>
                <a:latin typeface="Calibri"/>
              </a:rPr>
              <a:t>   [critique]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3520439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83680" y="3922776"/>
            <a:ext cx="237744" cy="237744"/>
          </a:xfrm>
          <a:prstGeom prst="ellipse">
            <a:avLst/>
          </a:prstGeom>
          <a:solidFill>
            <a:srgbClr val="C98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3703320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A"/>
                </a:solidFill>
                <a:latin typeface="Calibri"/>
              </a:rPr>
              <a:t>Taux d'échec élevé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4041648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7284"/>
                </a:solidFill>
                <a:latin typeface="Calibri"/>
              </a:rPr>
              <a:t>&gt; 20 % de réponses 4xx / 5xx</a:t>
            </a:r>
            <a:r>
              <a:rPr sz="1100" b="1" i="0">
                <a:solidFill>
                  <a:srgbClr val="C9822A"/>
                </a:solidFill>
                <a:latin typeface="Calibri"/>
              </a:rPr>
              <a:t>   [warning]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4754879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892040"/>
            <a:ext cx="4892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C9822A"/>
                </a:solidFill>
                <a:latin typeface="Calibri"/>
              </a:rPr>
              <a:t>Contact point Slack provisionné</a:t>
            </a:r>
            <a:r>
              <a:rPr sz="1200" b="0" i="0">
                <a:solidFill>
                  <a:srgbClr val="6B5836"/>
                </a:solidFill>
                <a:latin typeface="Calibri"/>
              </a:rPr>
              <a:t> — webhook depuis .env, règles versionnées en fichiers.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8C9E"/>
                </a:solidFill>
                <a:latin typeface="Calibri"/>
              </a:rPr>
              <a:t>09 · SERVING &amp; ACCÈS UTILISATEUR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6283A"/>
                </a:solidFill>
                <a:latin typeface="Cambria"/>
              </a:rPr>
              <a:t>Exposition : API sécurisée &amp;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4068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2084831"/>
            <a:ext cx="292608" cy="292608"/>
          </a:xfrm>
          <a:prstGeom prst="ellipse">
            <a:avLst/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066543"/>
            <a:ext cx="4480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6283A"/>
                </a:solidFill>
                <a:latin typeface="Calibri"/>
              </a:rPr>
              <a:t>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C6E8C"/>
                </a:solidFill>
                <a:latin typeface="Calibri"/>
              </a:rPr>
              <a:t>REVERSE PROXY DEVANT L'API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49377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250" b="0" i="0">
                <a:solidFill>
                  <a:srgbClr val="16283A"/>
                </a:solidFill>
                <a:latin typeface="Calibri"/>
              </a:rPr>
              <a:t>•  Point d'entrée unique (:8000 → api) : l'API n'est jamais exposée directement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250" b="0" i="0">
                <a:solidFill>
                  <a:srgbClr val="16283A"/>
                </a:solidFill>
                <a:latin typeface="Calibri"/>
              </a:rPr>
              <a:t>•  Applique une clé API (X-Api-Key) sur toutes les routes sauf /health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250" b="0" i="0">
                <a:solidFill>
                  <a:srgbClr val="16283A"/>
                </a:solidFill>
                <a:latin typeface="Calibri"/>
              </a:rPr>
              <a:t>•  Config par template : la clé est injectée depuis l'environnement (envsubst)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250" b="0" i="0">
                <a:solidFill>
                  <a:srgbClr val="16283A"/>
                </a:solidFill>
                <a:latin typeface="Calibri"/>
              </a:rPr>
              <a:t>•  Prépare l'évolution : TLS/HTTPS, rate limiting, logs &amp; headers centralisés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44068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2084831"/>
            <a:ext cx="292608" cy="292608"/>
          </a:xfrm>
          <a:prstGeom prst="ellipse">
            <a:avLst/>
          </a:prstGeom>
          <a:solidFill>
            <a:srgbClr val="2E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066543"/>
            <a:ext cx="4480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6283A"/>
                </a:solidFill>
                <a:latin typeface="Calibri"/>
              </a:rPr>
              <a:t>Streamlit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0604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E8C9E"/>
                </a:solidFill>
                <a:latin typeface="Calibri"/>
              </a:rPr>
              <a:t>INTERFACE UTILISATEUR (:8501)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999232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250" b="0" i="0">
                <a:solidFill>
                  <a:srgbClr val="16283A"/>
                </a:solidFill>
                <a:latin typeface="Calibri"/>
              </a:rPr>
              <a:t>•  Carte interactive : choix d'une ville → prédiction météo via l'API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250" b="0" i="0">
                <a:solidFill>
                  <a:srgbClr val="16283A"/>
                </a:solidFill>
                <a:latin typeface="Calibri"/>
              </a:rPr>
              <a:t>•  Page de connexion : mots de passe hachés (bcrypt) + cookie de session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4023360"/>
            <a:ext cx="4892040" cy="658368"/>
          </a:xfrm>
          <a:prstGeom prst="roundRect">
            <a:avLst>
              <a:gd name="adj" fmla="val 9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4114800"/>
            <a:ext cx="4572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6E8C"/>
                </a:solidFill>
                <a:latin typeface="Calibri"/>
              </a:rPr>
              <a:t>Rôle user  </a:t>
            </a:r>
            <a:r>
              <a:rPr sz="1200" b="0" i="0">
                <a:solidFill>
                  <a:srgbClr val="5E7284"/>
                </a:solidFill>
                <a:latin typeface="Calibri"/>
              </a:rPr>
              <a:t>→ interface d'inférence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4754880"/>
            <a:ext cx="4892040" cy="777240"/>
          </a:xfrm>
          <a:prstGeom prst="roundRect">
            <a:avLst>
              <a:gd name="adj" fmla="val 9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4846320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C9822A"/>
                </a:solidFill>
                <a:latin typeface="Calibri"/>
              </a:rPr>
              <a:t>Rôle admin  </a:t>
            </a:r>
            <a:r>
              <a:rPr sz="1200" b="0" i="0">
                <a:solidFill>
                  <a:srgbClr val="5E7284"/>
                </a:solidFill>
                <a:latin typeface="Calibri"/>
              </a:rPr>
              <a:t>→ + liens Grafana &amp; rapports de drift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54480" y="-1554480"/>
            <a:ext cx="4389120" cy="4389120"/>
          </a:xfrm>
          <a:prstGeom prst="ellipse">
            <a:avLst/>
          </a:prstGeom>
          <a:solidFill>
            <a:srgbClr val="12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4023360"/>
            <a:ext cx="4389120" cy="4389120"/>
          </a:xfrm>
          <a:prstGeom prst="ellipse">
            <a:avLst/>
          </a:prstGeom>
          <a:solidFill>
            <a:srgbClr val="10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8A33D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Une boucle MLOps de bout en bout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8036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12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971800"/>
            <a:ext cx="1883663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Données (BOM)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93491" y="3236976"/>
            <a:ext cx="105156" cy="118872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7791" y="288036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12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971800"/>
            <a:ext cx="1883663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Entraînement (XGBoost)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015483" y="3236976"/>
            <a:ext cx="105156" cy="118872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29783" y="288036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12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9512" y="2971800"/>
            <a:ext cx="1883663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Registry (DagsHub)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237475" y="3236976"/>
            <a:ext cx="105156" cy="118872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51775" y="288036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12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61503" y="2971800"/>
            <a:ext cx="1883663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Serving (API + UI)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59468" y="3236976"/>
            <a:ext cx="105156" cy="118872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73767" y="288036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12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5" y="2971800"/>
            <a:ext cx="1883663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Monitoring (drift + métriques)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77639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C7D6E2"/>
                </a:solidFill>
                <a:latin typeface="Calibri"/>
              </a:rPr>
              <a:t>→ le monitoring déclenche le réentraînement (Airflow) : la boucle se referme.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A33D"/>
                </a:solidFill>
                <a:latin typeface="Calibri"/>
              </a:rPr>
              <a:t>STACK TECHNIQUE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983480"/>
            <a:ext cx="1656892" cy="384048"/>
          </a:xfrm>
          <a:prstGeom prst="roundRect">
            <a:avLst>
              <a:gd name="adj" fmla="val 50000"/>
            </a:avLst>
          </a:prstGeom>
          <a:solidFill>
            <a:srgbClr val="163C5C"/>
          </a:solidFill>
          <a:ln w="12700">
            <a:solidFill>
              <a:srgbClr val="2C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83480"/>
            <a:ext cx="16568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CFE0EC"/>
                </a:solidFill>
                <a:latin typeface="Calibri"/>
              </a:rPr>
              <a:t>Docker Compose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79852" y="4983480"/>
            <a:ext cx="570585" cy="384048"/>
          </a:xfrm>
          <a:prstGeom prst="roundRect">
            <a:avLst>
              <a:gd name="adj" fmla="val 50000"/>
            </a:avLst>
          </a:prstGeom>
          <a:solidFill>
            <a:srgbClr val="163C5C"/>
          </a:solidFill>
          <a:ln w="12700">
            <a:solidFill>
              <a:srgbClr val="2C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79852" y="4983480"/>
            <a:ext cx="57058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CFE0EC"/>
                </a:solidFill>
                <a:latin typeface="Calibri"/>
              </a:rPr>
              <a:t>DVC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87598" y="4983480"/>
            <a:ext cx="965606" cy="384048"/>
          </a:xfrm>
          <a:prstGeom prst="roundRect">
            <a:avLst>
              <a:gd name="adj" fmla="val 50000"/>
            </a:avLst>
          </a:prstGeom>
          <a:solidFill>
            <a:srgbClr val="163C5C"/>
          </a:solidFill>
          <a:ln w="12700">
            <a:solidFill>
              <a:srgbClr val="2C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87598" y="4983480"/>
            <a:ext cx="96560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CFE0EC"/>
                </a:solidFill>
                <a:latin typeface="Calibri"/>
              </a:rPr>
              <a:t>DagsHub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0364" y="4983480"/>
            <a:ext cx="866851" cy="384048"/>
          </a:xfrm>
          <a:prstGeom prst="roundRect">
            <a:avLst>
              <a:gd name="adj" fmla="val 50000"/>
            </a:avLst>
          </a:prstGeom>
          <a:solidFill>
            <a:srgbClr val="163C5C"/>
          </a:solidFill>
          <a:ln w="12700">
            <a:solidFill>
              <a:srgbClr val="2C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0364" y="4983480"/>
            <a:ext cx="86685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CFE0EC"/>
                </a:solidFill>
                <a:latin typeface="Calibri"/>
              </a:rPr>
              <a:t>MLflow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94376" y="4983480"/>
            <a:ext cx="965606" cy="384048"/>
          </a:xfrm>
          <a:prstGeom prst="roundRect">
            <a:avLst>
              <a:gd name="adj" fmla="val 50000"/>
            </a:avLst>
          </a:prstGeom>
          <a:solidFill>
            <a:srgbClr val="163C5C"/>
          </a:solidFill>
          <a:ln w="12700">
            <a:solidFill>
              <a:srgbClr val="2C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94376" y="4983480"/>
            <a:ext cx="96560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CFE0EC"/>
                </a:solidFill>
                <a:latin typeface="Calibri"/>
              </a:rPr>
              <a:t>XGBoost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97142" y="4983480"/>
            <a:ext cx="965606" cy="384048"/>
          </a:xfrm>
          <a:prstGeom prst="roundRect">
            <a:avLst>
              <a:gd name="adj" fmla="val 50000"/>
            </a:avLst>
          </a:prstGeom>
          <a:solidFill>
            <a:srgbClr val="163C5C"/>
          </a:solidFill>
          <a:ln w="12700">
            <a:solidFill>
              <a:srgbClr val="2C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7142" y="4983480"/>
            <a:ext cx="96560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CFE0EC"/>
                </a:solidFill>
                <a:latin typeface="Calibri"/>
              </a:rPr>
              <a:t>Airflow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9908" y="4983480"/>
            <a:ext cx="1163116" cy="384048"/>
          </a:xfrm>
          <a:prstGeom prst="roundRect">
            <a:avLst>
              <a:gd name="adj" fmla="val 50000"/>
            </a:avLst>
          </a:prstGeom>
          <a:solidFill>
            <a:srgbClr val="163C5C"/>
          </a:solidFill>
          <a:ln w="12700">
            <a:solidFill>
              <a:srgbClr val="2C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9908" y="4983480"/>
            <a:ext cx="11631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CFE0EC"/>
                </a:solidFill>
                <a:latin typeface="Calibri"/>
              </a:rPr>
              <a:t>Evidently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00185" y="498348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163C5C"/>
          </a:solidFill>
          <a:ln w="12700">
            <a:solidFill>
              <a:srgbClr val="2C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00185" y="4983480"/>
            <a:ext cx="1261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CFE0EC"/>
                </a:solidFill>
                <a:latin typeface="Calibri"/>
              </a:rPr>
              <a:t>Prometheus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99217" y="4983480"/>
            <a:ext cx="965606" cy="384048"/>
          </a:xfrm>
          <a:prstGeom prst="roundRect">
            <a:avLst>
              <a:gd name="adj" fmla="val 50000"/>
            </a:avLst>
          </a:prstGeom>
          <a:solidFill>
            <a:srgbClr val="163C5C"/>
          </a:solidFill>
          <a:ln w="12700">
            <a:solidFill>
              <a:srgbClr val="2C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9217" y="4983480"/>
            <a:ext cx="96560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CFE0EC"/>
                </a:solidFill>
                <a:latin typeface="Calibri"/>
              </a:rPr>
              <a:t>Grafana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486400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63C5C"/>
          </a:solidFill>
          <a:ln w="12700">
            <a:solidFill>
              <a:srgbClr val="2C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486400"/>
            <a:ext cx="7680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CFE0EC"/>
                </a:solidFill>
                <a:latin typeface="Calibri"/>
              </a:rPr>
              <a:t>Nginx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91056" y="5486400"/>
            <a:ext cx="965606" cy="384048"/>
          </a:xfrm>
          <a:prstGeom prst="roundRect">
            <a:avLst>
              <a:gd name="adj" fmla="val 50000"/>
            </a:avLst>
          </a:prstGeom>
          <a:solidFill>
            <a:srgbClr val="163C5C"/>
          </a:solidFill>
          <a:ln w="12700">
            <a:solidFill>
              <a:srgbClr val="2C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91056" y="5486400"/>
            <a:ext cx="96560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CFE0EC"/>
                </a:solidFill>
                <a:latin typeface="Calibri"/>
              </a:rPr>
              <a:t>FastAPI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93822" y="5486400"/>
            <a:ext cx="1163116" cy="384048"/>
          </a:xfrm>
          <a:prstGeom prst="roundRect">
            <a:avLst>
              <a:gd name="adj" fmla="val 50000"/>
            </a:avLst>
          </a:prstGeom>
          <a:solidFill>
            <a:srgbClr val="163C5C"/>
          </a:solidFill>
          <a:ln w="12700">
            <a:solidFill>
              <a:srgbClr val="2C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93822" y="5486400"/>
            <a:ext cx="11631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CFE0EC"/>
                </a:solidFill>
                <a:latin typeface="Calibri"/>
              </a:rPr>
              <a:t>Streamlit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